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6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–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>
        <p:scale>
          <a:sx n="37" d="100"/>
          <a:sy n="37" d="100"/>
        </p:scale>
        <p:origin x="1596" y="7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CFC71-1D72-F20E-5AAE-75AF9CA9D1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0BE13C-861B-7D9B-7C6C-5AB9F20BDC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5CE4B-ED7E-C13E-69D3-022C03C85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B9219-9A7C-4022-BFE8-3E083B0F9E11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4EF5B-E703-D59C-7BA1-F5096D068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A1E3A6-2B8F-F3C9-4FF7-CD2ADEB5E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595DF-2953-4683-896C-3CCC0931F3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5871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FB373-E743-089C-0147-3244CF79C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1A2D6-4D32-AEA9-653A-1907AF1CD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549FCC-7A16-8C54-7F7E-40D521763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B9219-9A7C-4022-BFE8-3E083B0F9E11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37FB40-C3D2-1165-62CC-12EB1420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DB6B2-2989-E084-042F-B10436374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595DF-2953-4683-896C-3CCC0931F3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1350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6C649-9B8C-49AD-1F8E-87CE4376A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F5872F-CF91-311F-2719-984CCDE335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4B3B7-24C1-EC2B-FDE3-6F5E142BE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B9219-9A7C-4022-BFE8-3E083B0F9E11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2EE2F4-E387-D01A-571C-8612A6767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6D5764-56A0-44EB-8E73-70F009046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595DF-2953-4683-896C-3CCC0931F3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3271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78017-D853-F56B-2A83-61F0BC743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5095D-1544-5CFE-234A-A68D6756E9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91909A-4DC9-1CDD-BB51-010E011FB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80A479-DAD4-B54E-316B-DEC8B1CE6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B9219-9A7C-4022-BFE8-3E083B0F9E11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FB197D-FBFA-C3EA-C098-9AEF8263A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096E34-B46A-F348-9BDE-D3C1FA5BB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595DF-2953-4683-896C-3CCC0931F3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0031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3FBE8-9705-830E-C694-41E6C21CD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5F718D-9E45-9723-A363-089C62F72D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DA1B18-FA7E-4D21-2AA0-1CA41E919E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EB97F1-6876-4D4F-E8FA-FB508F001C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D45E3A-CE0F-5BE4-6271-5ED7763BF4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1E60A7-9609-466F-AE17-01D9025D4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B9219-9A7C-4022-BFE8-3E083B0F9E11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985347-00EE-B090-1E4C-D0D16EFB8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737CCC-C0D5-9C85-4EFB-2A21342B9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595DF-2953-4683-896C-3CCC0931F3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6357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B54AC-C5EE-A684-8E11-92719EC79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0643A4-218D-4939-7E0C-6C3757837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B9219-9A7C-4022-BFE8-3E083B0F9E11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418BD4-28A2-7044-233A-2ABA3383A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7CAF6-30E5-998F-CB70-D2AD9DC43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595DF-2953-4683-896C-3CCC0931F3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7609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1E6670-3575-CE87-F691-402B1F131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B9219-9A7C-4022-BFE8-3E083B0F9E11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1F4954-8055-5B14-5F89-8061AB88F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56D03C-6171-91D3-850C-FDAAC0E8D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595DF-2953-4683-896C-3CCC0931F3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0619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D2DE2-5247-D436-7411-F29E3B297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2BBCC-2CCA-9929-C465-45AB5A6608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30CFD3-0FE3-E4BE-3EB2-ECE1AF07A6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B881E7-5D4D-3C77-3AC4-62CBA42D4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B9219-9A7C-4022-BFE8-3E083B0F9E11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654307-F483-0671-E415-42B151CBD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829CF5-CAD0-25DF-78EF-F17AA3035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595DF-2953-4683-896C-3CCC0931F3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2549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8C2D1-D6DC-7EC4-7A26-8212AE078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D238A2-750F-80CB-A23D-160165140B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08C9A4-EB01-8F69-8272-2043246B15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913302-C19A-B873-2F0C-35C4B95BF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B9219-9A7C-4022-BFE8-3E083B0F9E11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4CF828-0F30-6F8C-279A-3BBB5CB4E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649AF7-0DF3-62F3-BF1C-6DE8467F1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595DF-2953-4683-896C-3CCC0931F3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1389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15181-B44E-C008-B953-3CC183B9E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517C59-934E-E70B-76F5-6540D1886A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C0B4E5-CEEB-3F15-3C9D-971370CCC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B9219-9A7C-4022-BFE8-3E083B0F9E11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2D848-CFC1-8672-CCD1-F6A71D774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CC7DD-7B9B-9147-AA6A-FF9C440EC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595DF-2953-4683-896C-3CCC0931F3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803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3B13E0-CB9C-B6BA-C682-ECC014409A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7925E5-A859-0398-A824-AD5D35ABDD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7C0F2E-DCF4-FC52-583C-B4A9FFDC9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B9219-9A7C-4022-BFE8-3E083B0F9E11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A86EC5-05D3-7135-ED33-61F439447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AE7B6-B4FA-9EB2-DB83-25673C104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595DF-2953-4683-896C-3CCC0931F3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3669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4E71A6-1C37-C7A8-1210-A42F439FD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B275A1-C31A-D7BC-7BE4-269CC7798B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CB930-2367-CD10-6147-F10AF7D6BB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CB9219-9A7C-4022-BFE8-3E083B0F9E11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95D985-61CA-75E0-E0F3-F75C0597FC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E07CC-677E-EAD8-8FB0-021812DF63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A595DF-2953-4683-896C-3CCC0931F3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4017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9B3E3-5E1C-D5AF-F106-85C06EB30E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Title Slide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A5948A-0462-6418-C772-D52BE789CA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66744"/>
            <a:ext cx="9144000" cy="1655762"/>
          </a:xfrm>
        </p:spPr>
        <p:txBody>
          <a:bodyPr/>
          <a:lstStyle/>
          <a:p>
            <a:pPr algn="l"/>
            <a:r>
              <a:rPr lang="en-IN" b="1" dirty="0"/>
              <a:t>Title:</a:t>
            </a:r>
            <a:r>
              <a:rPr lang="en-IN" dirty="0"/>
              <a:t> Fashion-MNIST Image Classification using ANN &amp; CNN</a:t>
            </a:r>
            <a:br>
              <a:rPr lang="en-IN" dirty="0"/>
            </a:br>
            <a:r>
              <a:rPr lang="en-IN" b="1" dirty="0"/>
              <a:t>Name:</a:t>
            </a:r>
            <a:r>
              <a:rPr lang="en-IN" dirty="0"/>
              <a:t> Kirtan Nitin Patel (P2952845)</a:t>
            </a:r>
            <a:br>
              <a:rPr lang="en-IN" dirty="0"/>
            </a:br>
            <a:r>
              <a:rPr lang="en-IN" b="1" dirty="0"/>
              <a:t>Course:</a:t>
            </a:r>
            <a:r>
              <a:rPr lang="en-IN" dirty="0"/>
              <a:t>  </a:t>
            </a:r>
            <a:r>
              <a:rPr lang="en-IN" dirty="0" err="1"/>
              <a:t>Msc</a:t>
            </a:r>
            <a:r>
              <a:rPr lang="en-IN" dirty="0"/>
              <a:t> in Artificial Intelligence</a:t>
            </a:r>
            <a:br>
              <a:rPr lang="en-IN" dirty="0"/>
            </a:br>
            <a:r>
              <a:rPr lang="en-IN" b="1" dirty="0"/>
              <a:t>Date:</a:t>
            </a:r>
            <a:r>
              <a:rPr lang="en-IN" dirty="0"/>
              <a:t> 12</a:t>
            </a:r>
            <a:r>
              <a:rPr lang="en-IN" baseline="30000" dirty="0"/>
              <a:t>th</a:t>
            </a:r>
            <a:r>
              <a:rPr lang="en-IN" dirty="0"/>
              <a:t> November 2025</a:t>
            </a:r>
          </a:p>
        </p:txBody>
      </p:sp>
    </p:spTree>
    <p:extLst>
      <p:ext uri="{BB962C8B-B14F-4D97-AF65-F5344CB8AC3E}">
        <p14:creationId xmlns:p14="http://schemas.microsoft.com/office/powerpoint/2010/main" val="3645766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1E8AC-9F11-374A-6F13-F04D1CF34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Dataset Introduction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FDCBD4E-2CC9-3418-2556-E2E8B0341F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4075" y="1375828"/>
            <a:ext cx="9540816" cy="5272322"/>
          </a:xfrm>
        </p:spPr>
      </p:pic>
    </p:spTree>
    <p:extLst>
      <p:ext uri="{BB962C8B-B14F-4D97-AF65-F5344CB8AC3E}">
        <p14:creationId xmlns:p14="http://schemas.microsoft.com/office/powerpoint/2010/main" val="83937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7E8C9-A565-4EC1-9154-C28F8545F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78152-3096-9779-6D60-19C106930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Focused on classifying clothing images from the Fashion-MNIST dataset (70,000 grayscale images, 10 classes).</a:t>
            </a:r>
          </a:p>
          <a:p>
            <a:r>
              <a:rPr lang="en-US" dirty="0"/>
              <a:t>Motivation: to understand and compare ANN and CNN architectures for visual recognition.</a:t>
            </a:r>
          </a:p>
          <a:p>
            <a:r>
              <a:rPr lang="en-US" dirty="0"/>
              <a:t>Problem: how network design and training choices affect classification accuracy.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9814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E2F25-7DCF-0BB4-4204-E907F6B29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Objectives /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006CC-9477-17F9-DE31-3844595073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Build and train ANN and CNN models for Fashion-MNIST.</a:t>
            </a:r>
          </a:p>
          <a:p>
            <a:r>
              <a:rPr lang="en-US" dirty="0"/>
              <a:t>Compare model performance based on accuracy and reliability.</a:t>
            </a:r>
          </a:p>
          <a:p>
            <a:r>
              <a:rPr lang="en-US" dirty="0"/>
              <a:t>Explore the impact of optimization and regularization methods.</a:t>
            </a:r>
          </a:p>
          <a:p>
            <a:r>
              <a:rPr lang="en-US" dirty="0"/>
              <a:t>Identify the most effective approach for image recognition.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2667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6C06E-9423-E70E-C83F-88302A55F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Methodology /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2007C-71F6-C00C-9E51-EE566B1710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</a:t>
            </a:r>
            <a:r>
              <a:rPr lang="en-US" b="1" dirty="0"/>
              <a:t>Python + </a:t>
            </a:r>
            <a:r>
              <a:rPr lang="en-US" b="1" dirty="0" err="1"/>
              <a:t>PyTorch</a:t>
            </a:r>
            <a:r>
              <a:rPr lang="en-US" dirty="0"/>
              <a:t> on GPU for faster computation.</a:t>
            </a:r>
          </a:p>
          <a:p>
            <a:r>
              <a:rPr lang="fr-FR" dirty="0"/>
              <a:t>ANN: 2 </a:t>
            </a:r>
            <a:r>
              <a:rPr lang="fr-FR" dirty="0" err="1"/>
              <a:t>hidden</a:t>
            </a:r>
            <a:r>
              <a:rPr lang="fr-FR" dirty="0"/>
              <a:t> </a:t>
            </a:r>
            <a:r>
              <a:rPr lang="fr-FR" dirty="0" err="1"/>
              <a:t>layers</a:t>
            </a:r>
            <a:r>
              <a:rPr lang="fr-FR" dirty="0"/>
              <a:t> (256 &amp; 128 </a:t>
            </a:r>
            <a:r>
              <a:rPr lang="fr-FR" dirty="0" err="1"/>
              <a:t>neurons</a:t>
            </a:r>
            <a:r>
              <a:rPr lang="fr-FR" dirty="0"/>
              <a:t>), </a:t>
            </a:r>
            <a:r>
              <a:rPr lang="fr-FR" dirty="0" err="1"/>
              <a:t>ReLU</a:t>
            </a:r>
            <a:r>
              <a:rPr lang="fr-FR" dirty="0"/>
              <a:t> activation, dropout 0.3.</a:t>
            </a:r>
          </a:p>
          <a:p>
            <a:r>
              <a:rPr lang="en-IN" dirty="0"/>
              <a:t>CNN: 2 convolution layers (32 &amp; 64 filters), </a:t>
            </a:r>
            <a:r>
              <a:rPr lang="en-IN" dirty="0" err="1"/>
              <a:t>ReLU</a:t>
            </a:r>
            <a:r>
              <a:rPr lang="en-IN" dirty="0"/>
              <a:t>, max-pooling (2×2).</a:t>
            </a:r>
          </a:p>
          <a:p>
            <a:r>
              <a:rPr lang="en-US" dirty="0"/>
              <a:t>Optimizer: Adam (learning rate 0.001), Loss: </a:t>
            </a:r>
            <a:r>
              <a:rPr lang="en-US" dirty="0" err="1"/>
              <a:t>CrossEntropyLoss</a:t>
            </a:r>
            <a:r>
              <a:rPr lang="en-US" dirty="0"/>
              <a:t>.</a:t>
            </a:r>
          </a:p>
          <a:p>
            <a:r>
              <a:rPr lang="en-IN" dirty="0"/>
              <a:t>Training: 25 epochs.</a:t>
            </a:r>
          </a:p>
          <a:p>
            <a:r>
              <a:rPr lang="en-IN" dirty="0"/>
              <a:t>Data → Model → Training → Evaluation → Results</a:t>
            </a:r>
          </a:p>
        </p:txBody>
      </p:sp>
    </p:spTree>
    <p:extLst>
      <p:ext uri="{BB962C8B-B14F-4D97-AF65-F5344CB8AC3E}">
        <p14:creationId xmlns:p14="http://schemas.microsoft.com/office/powerpoint/2010/main" val="582057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6BB07-7C3D-913B-DFBA-0214FF887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Data / Materials / Inputs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36F16-41B2-9167-DB5D-8BC4BC1597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Dataset:</a:t>
            </a:r>
            <a:r>
              <a:rPr lang="en-IN" dirty="0"/>
              <a:t> Fashion-MNIST (train/test split: 60K/10K).</a:t>
            </a:r>
          </a:p>
          <a:p>
            <a:r>
              <a:rPr lang="en-IN" b="1" dirty="0"/>
              <a:t>Preprocessing:</a:t>
            </a:r>
            <a:r>
              <a:rPr lang="en-IN" dirty="0"/>
              <a:t> normalization, data augmentation (rotation, flipping).</a:t>
            </a:r>
          </a:p>
          <a:p>
            <a:r>
              <a:rPr lang="en-IN" b="1" dirty="0"/>
              <a:t>Assumptions:</a:t>
            </a:r>
            <a:r>
              <a:rPr lang="en-IN" dirty="0"/>
              <a:t> grayscale images 28×28 pixels; 10 categories.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1824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C5808-8D52-DD9A-59F9-EF4FE68CC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Implementation /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EE443-6CE5-7F1D-2900-6BC413927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Loaded dataset and transformed images.</a:t>
            </a:r>
          </a:p>
          <a:p>
            <a:r>
              <a:rPr lang="en-US" dirty="0"/>
              <a:t>Trained both ANN and CNN architectures.</a:t>
            </a:r>
          </a:p>
          <a:p>
            <a:r>
              <a:rPr lang="en-US" dirty="0"/>
              <a:t>Used dropout and normalization to prevent overfitting.</a:t>
            </a:r>
          </a:p>
          <a:p>
            <a:r>
              <a:rPr lang="en-US" dirty="0"/>
              <a:t>Monitored training using accuracy/loss curves.</a:t>
            </a:r>
          </a:p>
          <a:p>
            <a:r>
              <a:rPr lang="en-US" dirty="0"/>
              <a:t>Visualized confusion matrices for performance evaluation.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5973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68B49-BC6E-38B1-4292-161DFE7F8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Results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DF145EC-A3BF-2026-1FDA-62D150D409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2355871"/>
              </p:ext>
            </p:extLst>
          </p:nvPr>
        </p:nvGraphicFramePr>
        <p:xfrm>
          <a:off x="690113" y="1825625"/>
          <a:ext cx="10921040" cy="40920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84208">
                  <a:extLst>
                    <a:ext uri="{9D8B030D-6E8A-4147-A177-3AD203B41FA5}">
                      <a16:colId xmlns:a16="http://schemas.microsoft.com/office/drawing/2014/main" val="2735602051"/>
                    </a:ext>
                  </a:extLst>
                </a:gridCol>
                <a:gridCol w="2184208">
                  <a:extLst>
                    <a:ext uri="{9D8B030D-6E8A-4147-A177-3AD203B41FA5}">
                      <a16:colId xmlns:a16="http://schemas.microsoft.com/office/drawing/2014/main" val="3850312921"/>
                    </a:ext>
                  </a:extLst>
                </a:gridCol>
                <a:gridCol w="2184208">
                  <a:extLst>
                    <a:ext uri="{9D8B030D-6E8A-4147-A177-3AD203B41FA5}">
                      <a16:colId xmlns:a16="http://schemas.microsoft.com/office/drawing/2014/main" val="3026679419"/>
                    </a:ext>
                  </a:extLst>
                </a:gridCol>
                <a:gridCol w="2184208">
                  <a:extLst>
                    <a:ext uri="{9D8B030D-6E8A-4147-A177-3AD203B41FA5}">
                      <a16:colId xmlns:a16="http://schemas.microsoft.com/office/drawing/2014/main" val="2591601903"/>
                    </a:ext>
                  </a:extLst>
                </a:gridCol>
                <a:gridCol w="2184208">
                  <a:extLst>
                    <a:ext uri="{9D8B030D-6E8A-4147-A177-3AD203B41FA5}">
                      <a16:colId xmlns:a16="http://schemas.microsoft.com/office/drawing/2014/main" val="2461127332"/>
                    </a:ext>
                  </a:extLst>
                </a:gridCol>
              </a:tblGrid>
              <a:tr h="1364032">
                <a:tc>
                  <a:txBody>
                    <a:bodyPr/>
                    <a:lstStyle/>
                    <a:p>
                      <a:pPr algn="ctr"/>
                      <a:r>
                        <a:rPr lang="en-IN" sz="3200" dirty="0"/>
                        <a:t>Model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dirty="0"/>
                        <a:t>Accuracy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dirty="0"/>
                        <a:t>Precision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dirty="0"/>
                        <a:t>Recall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dirty="0"/>
                        <a:t>F1-Score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014413"/>
                  </a:ext>
                </a:extLst>
              </a:tr>
              <a:tr h="1364032">
                <a:tc>
                  <a:txBody>
                    <a:bodyPr/>
                    <a:lstStyle/>
                    <a:p>
                      <a:pPr algn="ctr"/>
                      <a:r>
                        <a:rPr lang="en-IN" sz="3200" dirty="0"/>
                        <a:t>ANN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dirty="0"/>
                        <a:t>87%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dirty="0"/>
                        <a:t>0.87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dirty="0"/>
                        <a:t>0.86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dirty="0"/>
                        <a:t>0.86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9603318"/>
                  </a:ext>
                </a:extLst>
              </a:tr>
              <a:tr h="1364032">
                <a:tc>
                  <a:txBody>
                    <a:bodyPr/>
                    <a:lstStyle/>
                    <a:p>
                      <a:pPr algn="ctr"/>
                      <a:r>
                        <a:rPr lang="en-IN" sz="3200" dirty="0"/>
                        <a:t>CNN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dirty="0"/>
                        <a:t>92%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dirty="0"/>
                        <a:t>0.92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dirty="0"/>
                        <a:t>0.92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dirty="0"/>
                        <a:t>0.91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0103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1190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FBA73-90DB-3176-F148-54876E915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Discussion / 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B4278-874D-F419-4142-08A50031B7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CNN captured </a:t>
            </a:r>
            <a:r>
              <a:rPr lang="en-US" b="1" dirty="0"/>
              <a:t>spatial hierarchies</a:t>
            </a:r>
            <a:r>
              <a:rPr lang="en-US" dirty="0"/>
              <a:t>, improving classification accuracy.</a:t>
            </a:r>
          </a:p>
          <a:p>
            <a:r>
              <a:rPr lang="en-US" dirty="0"/>
              <a:t>ANN struggled with visually similar classes (e.g., coats vs. shirts).</a:t>
            </a:r>
          </a:p>
          <a:p>
            <a:r>
              <a:rPr lang="en-US" dirty="0"/>
              <a:t>Regularization (dropout, normalization) reduced overfitting.</a:t>
            </a:r>
          </a:p>
          <a:p>
            <a:r>
              <a:rPr lang="en-US" dirty="0"/>
              <a:t>Data augmentation boosted robustness to input variations.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0916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DD6B6-7614-84D3-A3FA-B71AC4E39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Conclusion /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08670-2A15-0846-6152-F3DC4608F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Explore advanced architectures: </a:t>
            </a:r>
            <a:r>
              <a:rPr lang="en-US" b="1" dirty="0" err="1"/>
              <a:t>ResNet</a:t>
            </a:r>
            <a:r>
              <a:rPr lang="en-US" b="1" dirty="0"/>
              <a:t>, VGG, Transfer Learning</a:t>
            </a:r>
            <a:r>
              <a:rPr lang="en-US" dirty="0"/>
              <a:t>.</a:t>
            </a:r>
          </a:p>
          <a:p>
            <a:r>
              <a:rPr lang="en-US" dirty="0"/>
              <a:t>Apply interpretability tools (e.g., Grad-CAM).</a:t>
            </a:r>
          </a:p>
          <a:p>
            <a:r>
              <a:rPr lang="en-US" dirty="0"/>
              <a:t>Acknowledgment: </a:t>
            </a:r>
            <a:r>
              <a:rPr lang="en-US" dirty="0" err="1"/>
              <a:t>PyTorch</a:t>
            </a:r>
            <a:r>
              <a:rPr lang="en-US" dirty="0"/>
              <a:t> framework, GPU resources, dataset providers.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86472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368</Words>
  <Application>Microsoft Office PowerPoint</Application>
  <PresentationFormat>Widescreen</PresentationFormat>
  <Paragraphs>54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Title Slide</vt:lpstr>
      <vt:lpstr>Dataset Introduction</vt:lpstr>
      <vt:lpstr>Introduction</vt:lpstr>
      <vt:lpstr>Objectives / Goals</vt:lpstr>
      <vt:lpstr>Methodology / Approach</vt:lpstr>
      <vt:lpstr>Data / Materials / Inputs</vt:lpstr>
      <vt:lpstr>Implementation / Process</vt:lpstr>
      <vt:lpstr>Results</vt:lpstr>
      <vt:lpstr>Discussion / Interpretation</vt:lpstr>
      <vt:lpstr>Conclusion /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khushi tandel</dc:creator>
  <cp:lastModifiedBy>khushi tandel</cp:lastModifiedBy>
  <cp:revision>2</cp:revision>
  <dcterms:created xsi:type="dcterms:W3CDTF">2025-10-28T14:33:04Z</dcterms:created>
  <dcterms:modified xsi:type="dcterms:W3CDTF">2025-10-28T15:02:06Z</dcterms:modified>
</cp:coreProperties>
</file>